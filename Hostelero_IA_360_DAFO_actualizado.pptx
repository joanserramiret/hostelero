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2C5E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32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</c:v>
                  </c:pt>
                  <c:pt idx="1">
                    <c:v>Puerto</c:v>
                  </c:pt>
                  <c:pt idx="2">
                    <c:v>Ensanche</c:v>
                  </c:pt>
                  <c:pt idx="3">
                    <c:v>Playa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58</c:v>
                </c:pt>
                <c:pt idx="2">
                  <c:v>49</c:v>
                </c:pt>
                <c:pt idx="3">
                  <c:v>44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532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FB5A8"/>
            </a:solidFill>
            <a:ln w="38100" cap="flat">
              <a:solidFill>
                <a:srgbClr val="0FB5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B5A8"/>
              </a:solidFill>
              <a:ln w="9525" cap="flat">
                <a:solidFill>
                  <a:srgbClr val="0FB5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</c:v>
                </c:pt>
                <c:pt idx="1">
                  <c:v>212</c:v>
                </c:pt>
                <c:pt idx="2">
                  <c:v>221</c:v>
                </c:pt>
                <c:pt idx="3">
                  <c:v>230</c:v>
                </c:pt>
                <c:pt idx="4">
                  <c:v>239</c:v>
                </c:pt>
                <c:pt idx="5">
                  <c:v>248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E74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9DB8C2"/>
              </a:solidFill>
              <a:effectLst/>
            </c:spPr>
          </c:dPt>
          <c:dPt>
            <c:idx val="3"/>
            <c:bubble3D val="0"/>
            <c:spPr>
              <a:solidFill>
                <a:srgbClr val="0FB5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Materia prima</c:v>
                </c:pt>
                <c:pt idx="1">
                  <c:v>Personal</c:v>
                </c:pt>
                <c:pt idx="2">
                  <c:v>Otros</c:v>
                </c:pt>
                <c:pt idx="3">
                  <c:v>Margen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31</c:v>
                </c:pt>
                <c:pt idx="1">
                  <c:v>30</c:v>
                </c:pt>
                <c:pt idx="2">
                  <c:v>18</c:v>
                </c:pt>
                <c:pt idx="3">
                  <c:v>21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15323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423160"/>
            <a:ext cx="1554480" cy="1005840"/>
          </a:xfrm>
          <a:prstGeom prst="line">
            <a:avLst/>
          </a:prstGeom>
          <a:noFill/>
          <a:ln w="12700">
            <a:solidFill>
              <a:srgbClr val="33606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V="1">
            <a:off x="9692640" y="2423160"/>
            <a:ext cx="1554480" cy="1005840"/>
          </a:xfrm>
          <a:prstGeom prst="line">
            <a:avLst/>
          </a:prstGeom>
          <a:noFill/>
          <a:ln w="12700">
            <a:solidFill>
              <a:srgbClr val="33606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7772400" y="3429000"/>
            <a:ext cx="1920240" cy="137160"/>
          </a:xfrm>
          <a:prstGeom prst="line">
            <a:avLst/>
          </a:prstGeom>
          <a:noFill/>
          <a:ln w="12700">
            <a:solidFill>
              <a:srgbClr val="33606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0" y="3429000"/>
            <a:ext cx="1920240" cy="137160"/>
          </a:xfrm>
          <a:prstGeom prst="line">
            <a:avLst/>
          </a:prstGeom>
          <a:noFill/>
          <a:ln w="12700">
            <a:solidFill>
              <a:srgbClr val="33606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V="1">
            <a:off x="8412480" y="3429000"/>
            <a:ext cx="1280160" cy="1143000"/>
          </a:xfrm>
          <a:prstGeom prst="line">
            <a:avLst/>
          </a:prstGeom>
          <a:noFill/>
          <a:ln w="12700">
            <a:solidFill>
              <a:srgbClr val="33606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92640" y="3429000"/>
            <a:ext cx="1280160" cy="1143000"/>
          </a:xfrm>
          <a:prstGeom prst="line">
            <a:avLst/>
          </a:prstGeom>
          <a:noFill/>
          <a:ln w="12700">
            <a:solidFill>
              <a:srgbClr val="33606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92640" y="3429000"/>
            <a:ext cx="0" cy="1600200"/>
          </a:xfrm>
          <a:prstGeom prst="line">
            <a:avLst/>
          </a:prstGeom>
          <a:noFill/>
          <a:ln w="12700">
            <a:solidFill>
              <a:srgbClr val="33606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010144" y="2295144"/>
            <a:ext cx="256032" cy="256032"/>
          </a:xfrm>
          <a:prstGeom prst="ellipse">
            <a:avLst/>
          </a:prstGeom>
          <a:solidFill>
            <a:srgbClr val="2C5E74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119104" y="2295144"/>
            <a:ext cx="256032" cy="256032"/>
          </a:xfrm>
          <a:prstGeom prst="ellipse">
            <a:avLst/>
          </a:prstGeom>
          <a:solidFill>
            <a:srgbClr val="2C5E74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644384" y="3438144"/>
            <a:ext cx="256032" cy="256032"/>
          </a:xfrm>
          <a:prstGeom prst="ellipse">
            <a:avLst/>
          </a:prstGeom>
          <a:solidFill>
            <a:srgbClr val="2C5E74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484864" y="3438144"/>
            <a:ext cx="256032" cy="256032"/>
          </a:xfrm>
          <a:prstGeom prst="ellipse">
            <a:avLst/>
          </a:prstGeom>
          <a:solidFill>
            <a:srgbClr val="2C5E74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84464" y="4443984"/>
            <a:ext cx="256032" cy="256032"/>
          </a:xfrm>
          <a:prstGeom prst="ellipse">
            <a:avLst/>
          </a:prstGeom>
          <a:solidFill>
            <a:srgbClr val="2C5E74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844784" y="4443984"/>
            <a:ext cx="256032" cy="256032"/>
          </a:xfrm>
          <a:prstGeom prst="ellipse">
            <a:avLst/>
          </a:prstGeom>
          <a:solidFill>
            <a:srgbClr val="2C5E74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564624" y="4901184"/>
            <a:ext cx="256032" cy="256032"/>
          </a:xfrm>
          <a:prstGeom prst="ellipse">
            <a:avLst/>
          </a:prstGeom>
          <a:solidFill>
            <a:srgbClr val="2C5E74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979408" y="2715768"/>
            <a:ext cx="1426464" cy="1426464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235440" y="2971800"/>
            <a:ext cx="914400" cy="91440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2" y="3182112"/>
            <a:ext cx="493776" cy="4937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21488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HOSTELERO IA 360</a:t>
            </a:r>
            <a:endParaRPr lang="en-US" sz="5000" dirty="0"/>
          </a:p>
        </p:txBody>
      </p:sp>
      <p:sp>
        <p:nvSpPr>
          <p:cNvPr id="20" name="Text 17"/>
          <p:cNvSpPr/>
          <p:nvPr/>
        </p:nvSpPr>
        <p:spPr>
          <a:xfrm>
            <a:off x="658368" y="3154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gestión hostelera con la IA en el centro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58368" y="3794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E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estratégico — DAFO y arquitectura de producto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5836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 ·  Luis   |  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arquitectura con la IA en el centro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orquesta los módulos —que capturan los datos— y alimenta el cuadro de mando de ratios, que los cruza y convierte en decisiones.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92224" y="2404872"/>
            <a:ext cx="4297680" cy="1417320"/>
          </a:xfrm>
          <a:prstGeom prst="line">
            <a:avLst/>
          </a:prstGeom>
          <a:noFill/>
          <a:ln w="15875">
            <a:solidFill>
              <a:srgbClr val="AEC4C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6089904" y="2404872"/>
            <a:ext cx="4297680" cy="1417320"/>
          </a:xfrm>
          <a:prstGeom prst="line">
            <a:avLst/>
          </a:prstGeom>
          <a:noFill/>
          <a:ln w="15875">
            <a:solidFill>
              <a:srgbClr val="AEC4C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V="1">
            <a:off x="1472184" y="3822192"/>
            <a:ext cx="4617720" cy="274320"/>
          </a:xfrm>
          <a:prstGeom prst="line">
            <a:avLst/>
          </a:prstGeom>
          <a:noFill/>
          <a:ln w="15875">
            <a:solidFill>
              <a:srgbClr val="AEC4C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089904" y="3822192"/>
            <a:ext cx="4617720" cy="274320"/>
          </a:xfrm>
          <a:prstGeom prst="line">
            <a:avLst/>
          </a:prstGeom>
          <a:noFill/>
          <a:ln w="15875">
            <a:solidFill>
              <a:srgbClr val="AEC4C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flipV="1">
            <a:off x="2249424" y="3822192"/>
            <a:ext cx="3840480" cy="1783080"/>
          </a:xfrm>
          <a:prstGeom prst="line">
            <a:avLst/>
          </a:prstGeom>
          <a:noFill/>
          <a:ln w="15875">
            <a:solidFill>
              <a:srgbClr val="AEC4C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89904" y="3822192"/>
            <a:ext cx="0" cy="2240280"/>
          </a:xfrm>
          <a:prstGeom prst="line">
            <a:avLst/>
          </a:prstGeom>
          <a:noFill/>
          <a:ln w="15875">
            <a:solidFill>
              <a:srgbClr val="AEC4C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89904" y="3822192"/>
            <a:ext cx="3840480" cy="1783080"/>
          </a:xfrm>
          <a:prstGeom prst="line">
            <a:avLst/>
          </a:prstGeom>
          <a:noFill/>
          <a:ln w="15875">
            <a:solidFill>
              <a:srgbClr val="AEC4C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flipV="1">
            <a:off x="6089904" y="2651760"/>
            <a:ext cx="0" cy="694944"/>
          </a:xfrm>
          <a:prstGeom prst="line">
            <a:avLst/>
          </a:prstGeom>
          <a:noFill/>
          <a:ln w="31750">
            <a:solidFill>
              <a:srgbClr val="0FB5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18304" y="2980944"/>
            <a:ext cx="2743200" cy="1682496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61204" y="3342132"/>
            <a:ext cx="2057400" cy="960120"/>
          </a:xfrm>
          <a:prstGeom prst="roundRect">
            <a:avLst>
              <a:gd name="adj" fmla="val 8571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3488436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06924" y="39364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· Claude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54964" y="2016252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2C5E7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2135124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00684" y="24094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TPV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450324" y="2016252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2C5E7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36" y="2135124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96044" y="24094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34924" y="3707892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2C5E7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3826764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0644" y="41010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770364" y="3707892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2C5E7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76" y="382676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16084" y="41010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1312164" y="5216652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2C5E7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976" y="5335524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57884" y="56098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5152644" y="5673852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2C5E7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456" y="5792724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98364" y="60670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8993124" y="5216652"/>
            <a:ext cx="1874520" cy="777240"/>
          </a:xfrm>
          <a:prstGeom prst="roundRect">
            <a:avLst>
              <a:gd name="adj" fmla="val 10588"/>
            </a:avLst>
          </a:prstGeom>
          <a:solidFill>
            <a:srgbClr val="2C5E7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4936" y="5335524"/>
            <a:ext cx="310896" cy="31089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38844" y="56098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4832604" y="1778508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0FB5A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1888236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878324" y="231800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MANDO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4878324" y="246430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inteligencia · cruza todo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mando — Grupo de restauración (5 locales)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cruzados de todos los módulos · lectura en tiempo real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058400" y="329184"/>
            <a:ext cx="1673352" cy="457200"/>
          </a:xfrm>
          <a:prstGeom prst="roundRect">
            <a:avLst>
              <a:gd name="adj" fmla="val 50000"/>
            </a:avLst>
          </a:prstGeom>
          <a:solidFill>
            <a:srgbClr val="0FB5A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0" y="329184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IA activa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209397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03504" y="131673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(mes)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" y="153619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248.500 €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03504" y="193852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6,2%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52344" y="1207008"/>
            <a:ext cx="209397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898648" y="131673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98648" y="153619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31,4 %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898648" y="193852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1,1 pp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47488" y="1207008"/>
            <a:ext cx="209397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93792" y="131673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93792" y="153619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29,8 %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193792" y="193852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0,4 pp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42632" y="1207008"/>
            <a:ext cx="209397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88936" y="131673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cost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88936" y="153619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61,2 %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488936" y="193852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&lt;65%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37776" y="1207008"/>
            <a:ext cx="2093976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84080" y="1316736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84080" y="1536192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24,7 €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784080" y="193852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3,0%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432304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21792" y="254203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local · miles €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02920" y="2798064"/>
          <a:ext cx="39319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4617720" y="2432304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782312" y="254203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ventas · miles €/mes</a:t>
            </a:r>
            <a:endParaRPr lang="en-US" sz="1200" dirty="0"/>
          </a:p>
        </p:txBody>
      </p:sp>
      <p:graphicFrame>
        <p:nvGraphicFramePr>
          <p:cNvPr id="31" name="Chart 1" descr=""/>
          <p:cNvGraphicFramePr/>
          <p:nvPr/>
        </p:nvGraphicFramePr>
        <p:xfrm>
          <a:off x="4663440" y="2798064"/>
          <a:ext cx="41148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457200" y="4407408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621792" y="45171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costes</a:t>
            </a:r>
            <a:endParaRPr lang="en-US" sz="1200" dirty="0"/>
          </a:p>
        </p:txBody>
      </p:sp>
      <p:graphicFrame>
        <p:nvGraphicFramePr>
          <p:cNvPr id="34" name="Chart 2" descr=""/>
          <p:cNvGraphicFramePr/>
          <p:nvPr/>
        </p:nvGraphicFramePr>
        <p:xfrm>
          <a:off x="502920" y="4736592"/>
          <a:ext cx="393192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Shape 30"/>
          <p:cNvSpPr/>
          <p:nvPr/>
        </p:nvSpPr>
        <p:spPr>
          <a:xfrm>
            <a:off x="4617720" y="4407408"/>
            <a:ext cx="4206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4782312" y="451713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platos por margen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4828032" y="4773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Arroz del senyoret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7818120" y="47731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4828032" y="5102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Tartar de atún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7818120" y="51023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4828032" y="54315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Croquetas caseras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7818120" y="54315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4828032" y="5760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Pulpo a la brasa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7818120" y="5760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9098280" y="2432304"/>
            <a:ext cx="2633472" cy="3758184"/>
          </a:xfrm>
          <a:prstGeom prst="roundRect">
            <a:avLst>
              <a:gd name="adj" fmla="val 2778"/>
            </a:avLst>
          </a:prstGeom>
          <a:solidFill>
            <a:srgbClr val="15323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2596896"/>
            <a:ext cx="237744" cy="237744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9555480" y="256946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la IA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>
            <a:off x="9281160" y="3054096"/>
            <a:ext cx="146304" cy="146304"/>
          </a:xfrm>
          <a:prstGeom prst="ellipse">
            <a:avLst/>
          </a:prstGeom>
          <a:solidFill>
            <a:srgbClr val="C7544A"/>
          </a:solidFill>
          <a:ln/>
        </p:spPr>
        <p:txBody>
          <a:bodyPr/>
          <a:p/>
        </p:txBody>
      </p:sp>
      <p:sp>
        <p:nvSpPr>
          <p:cNvPr id="49" name="Text 43"/>
          <p:cNvSpPr/>
          <p:nvPr/>
        </p:nvSpPr>
        <p:spPr>
          <a:xfrm>
            <a:off x="9518904" y="2999232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Centro: food cost 34% (+4 pp sobre la media). Revisa mermas y escandallos.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9281160" y="407822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51" name="Text 45"/>
          <p:cNvSpPr/>
          <p:nvPr/>
        </p:nvSpPr>
        <p:spPr>
          <a:xfrm>
            <a:off x="9518904" y="402336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Reservas: 18% de no-shows los sábados. Activa depósito previo.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9281160" y="5102352"/>
            <a:ext cx="146304" cy="146304"/>
          </a:xfrm>
          <a:prstGeom prst="ellipse">
            <a:avLst/>
          </a:prstGeom>
          <a:solidFill>
            <a:srgbClr val="0FB5A8"/>
          </a:solidFill>
          <a:ln/>
        </p:spPr>
        <p:txBody>
          <a:bodyPr/>
          <a:p/>
        </p:txBody>
      </p:sp>
      <p:sp>
        <p:nvSpPr>
          <p:cNvPr id="53" name="Text 47"/>
          <p:cNvSpPr/>
          <p:nvPr/>
        </p:nvSpPr>
        <p:spPr>
          <a:xfrm>
            <a:off x="9518904" y="5047488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RRHH: turno sobredimensionado los martes en Puerto. Ahorro ~320 €/mes.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DAFO — visión de conjunto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 equipo/empresa. Las dos mitades de fila comparten naturaleza interna (arriba) o externa (abajo).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0FB5A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755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480560" y="166420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IA-nativo + dupla fundadora complementaria.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36792" y="146304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56832" y="1755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177272" y="166420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656832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músculo comercial ni caja; dependencia de Joan.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2C7B9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4270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80560" y="417880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60120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roto y segmento medio (2-10) desatendido.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36792" y="397764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C7544A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56832" y="4270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177272" y="417880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656832" y="5120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Incumbentes con distribución; riesgos de socios y legal.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2608" cy="566928"/>
          </a:xfrm>
          <a:prstGeom prst="roundRect">
            <a:avLst>
              <a:gd name="adj" fmla="val 18750"/>
            </a:avLst>
          </a:prstGeom>
          <a:solidFill>
            <a:srgbClr val="0FB5A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0120" y="32918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nativa: Claude en el núcleo, no una feature añadida.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Autoconfiguración que abarata el onboarding.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integrado y real; v1 ya avanzada.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cruzado: márgenes reales TPV + compras + RRHH + contabilidad.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Agnóstico de hardware; funciona incluso desde el móvil.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CAC, varios módulos de recorrido → LTV alto.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propios: OCR, mantenimiento, formación.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5508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Multipasarela de pago (vs. cierre Ágora-Adyen).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proveedor, una factura, un soporte.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 complementaria: Joan (técnico) + Luis (negocio).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del incumbente desde dentro (sin código).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in the game: Joan va all-in, deja Ágora/JS Tech.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vía la empresa de Luis al arrancar.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2608" cy="566928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0120" y="32918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estructura comercial, soporte ni marketing. La más débil hoy.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del 360 intensivo por cliente (mitigado por F2).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distribución ni base instalada.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go-to-market, pricing ni clientes de referencia.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técnica en Joan (bus factor).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5508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de dedicación: Joan full-time / Luis parcial.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financiero de Joan; necesita runway desde el día 1.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= punto único de fallo, agravado.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propia limitada → financiación externa pronto.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2608" cy="566928"/>
          </a:xfrm>
          <a:prstGeom prst="roundRect">
            <a:avLst>
              <a:gd name="adj" fmla="val 18750"/>
            </a:avLst>
          </a:prstGeom>
          <a:solidFill>
            <a:srgbClr val="2C7B9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0120" y="32918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roto: 5-7 apps inconexas por hostelero.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spot: grupos de 2-10 establecimientos.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Hoteleras medianas con F&amp;B (segunda vertical).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vía banco único (en tensión con F8).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como gancho: Verifactu, jornada, manipulador.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5508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subvencionada (Kit Digital).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Consolidación: grupos quieren un único proveedor.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LatAm (mismo idioma).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2C7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O9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empresa/red de Luis como piloto o primer canal.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92608" cy="566928"/>
          </a:xfrm>
          <a:prstGeom prst="roundRect">
            <a:avLst>
              <a:gd name="adj" fmla="val 18750"/>
            </a:avLst>
          </a:prstGeom>
          <a:solidFill>
            <a:srgbClr val="C754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0120" y="32918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estrecha: los incumbentes pueden copiar el 360 en meses.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 por módulo, establecidos y financiados.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frágil: márgenes bajos, alta mortalidad → churn estructural.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proveedor de IA (coste a escala, lock-in).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55080" y="1371600"/>
            <a:ext cx="544068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cambiante (CCAA, futura expansión a LatAm).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grandes TPV con músculo pueden replicar la propuesta.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— Sin pacto de no-competencia que bloquee. El riesgo real: confidencialidad (indefinida) + desarrollo “sala limpia” + timing de salida del contrato de distribución.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—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26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de socios por equity/dedicación.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ejes que mandan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del DAFO que deberían gobernar las decisiones de los próximos meses.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C40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874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↔  A1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977640" y="1856232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profundidad IA-nativa es vuestra única defensa real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un 360-de-pegamento de los incumbentes, la integración profunda y la IA en el núcleo son el foso. Es el corazón del relato a inversores.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264408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C404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344728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 ↔  O4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97764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Multipasarela abierta vs. banco que quiere vuestro volumen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Libertad de producto contra una red comercial que os daría distribución. Decisión estratégica pendiente: no perderla de vista.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837176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C404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5020056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5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F11+F12 ↔ A7+A8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77640" y="5001768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bazas de equipo se anulan sin no-compete + pacto de socios</a:t>
            </a:r>
            <a:endParaRPr lang="en-US" sz="14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4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al líder por dentro y jugársela valen cero si el no-compete de Joan o el reparto de equity explotan. Primera tarea de empresa, por delante de lo técnico y lo comercial.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Hostelero IA 360</dc:title>
  <dc:subject>PptxGenJS Presentation</dc:subject>
  <dc:creator>Hostelero IA 360</dc:creator>
  <cp:lastModifiedBy>Hostelero IA 360</cp:lastModifiedBy>
  <cp:revision>1</cp:revision>
  <dcterms:created xsi:type="dcterms:W3CDTF">2026-06-29T20:05:13Z</dcterms:created>
  <dcterms:modified xsi:type="dcterms:W3CDTF">2026-06-29T20:05:13Z</dcterms:modified>
</cp:coreProperties>
</file>