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640080"/>
            <a:ext cx="1463040" cy="146304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120640"/>
            <a:ext cx="2011680" cy="20116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486400"/>
            <a:ext cx="1280160" cy="128016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41248"/>
            <a:ext cx="868680" cy="8686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7456" y="1105923"/>
            <a:ext cx="81438" cy="339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5705" y="1105923"/>
            <a:ext cx="81438" cy="339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7456" y="1234868"/>
            <a:ext cx="359687" cy="8143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06604" y="1027878"/>
            <a:ext cx="135731" cy="135731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078992"/>
            <a:ext cx="1833372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097280"/>
            <a:ext cx="18333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TPV DE HOSTELERÍA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1" i="0">
                <a:solidFill>
                  <a:srgbClr val="FFFFFF"/>
                </a:solidFill>
                <a:latin typeface="Calibri"/>
              </a:rPr>
              <a:t>HOSTELERO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5EEAD4"/>
                </a:solidFill>
                <a:latin typeface="Calibri"/>
              </a:rPr>
              <a:t>Sistema de TPV para bares y restaurantes: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100% local, en tiempo real y configurable al milímetro.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EEAD4"/>
                </a:solidFill>
                <a:latin typeface="Calibri"/>
              </a:rPr>
              <a:t>TPV  ·  Comandera  ·  Cocina (KDS)  ·  Administración  ·  Carta digital        </a:t>
            </a:r>
            <a:r>
              <a:rPr sz="1400" b="0" i="1">
                <a:solidFill>
                  <a:srgbClr val="94A3B8"/>
                </a:solidFill>
                <a:latin typeface="Calibri"/>
              </a:rPr>
              <a:t>Funciona sin internet en la red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Un TPV completo que no depende de la nube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0F766E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dependencia de internet — si cae la línea, el local sigue cobrando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874519"/>
            <a:ext cx="35844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0116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9718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aplicaciones coordinadas en tiempo real en todos los dispositivos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5844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20116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0F766E"/>
                </a:solidFill>
                <a:latin typeface="Calibri"/>
              </a:rPr>
              <a:t>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97180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escalable: tantos TPV, tablets, móviles, cocinas e impresoras como haga falta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908792" cy="2286000"/>
          </a:xfrm>
          <a:prstGeom prst="roundRect">
            <a:avLst/>
          </a:prstGeom>
          <a:solidFill>
            <a:srgbClr val="EC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Pensado a partir de la referencia del sector y mejorado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Multipuesto por red local (cada app en su puerto), sin servidores externos ni cuotas de nube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Datos centralizados: carta, mesas, usuarios y ventas en una sola fuente, siempre sincronizada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Configurable desde Administración: todo se adapta a cómo trabaja cada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Cuatro aplicaciones, un mismo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8833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12848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TPV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Terminal de venta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21854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Plano de mesas, comanda, cobro (efectivo, tarjeta, mixto, dividir), tickets y facturas.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68833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212848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128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0400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Tablet y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1854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Toma de comandas en sala con el mismo plano y la carta; envía a cocina al instante.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20240"/>
            <a:ext cx="268833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2212848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Monitor de cocina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21854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Las comandas llegan por zonas; marca preparando/listo y avisa al camarero.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920240"/>
            <a:ext cx="268833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2212848"/>
            <a:ext cx="822960" cy="8229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2128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0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Administración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49039"/>
            <a:ext cx="21854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Carta, tarifas, empleados, informes, reservas… todo el negocio configurable.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EN SALA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Sala y servicio, como en la vida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2112263"/>
            <a:ext cx="681228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30551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Plano editable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Mesas con forma y plazas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Salas con color de fondo y suelo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Elementos: barra, billar, plantas, sofá, aseos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Arrastrar y colocar a tu gusto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112263"/>
            <a:ext cx="873252" cy="310896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1"/>
            <a:ext cx="8732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Servicio por pases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Orden de platos 123 (primeros, segundos…)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Comensales por mesa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Avisos de cocina en tiempo real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Mesas ocupadas y libres de un vistazo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2112263"/>
            <a:ext cx="681228" cy="31089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30551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Cobro flexible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Efectivo, tarjeta y pago mixto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Dividir la cuenta y propinas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Descuentos e invitaciones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Ticket y factura con datos fiscales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LA CARTA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Productos configurables al detalle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3055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Ficha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4 nombres (botón, comanda, ticket), 3 precios (principal, añadido, suplemento)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13055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8616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Botón Copiar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Crea un producto nuevo a partir de otro: cambias nombre y precio y listo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9327" y="213055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Modificadores y menús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Extras, pasos de menú del día y combinados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23367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7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Producto por peso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Pregunta el peso y cobra €/kg (p. ej. pescado fresco)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423367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Disponibilidad (86)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Botón en TODAS las apps para agotar/reactivar en tiempo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39327" y="4233672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0224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Comentarios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Por familia y globales: sin gluten, poco hecho, para llevar…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PRECIOS Y FISCALIDAD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Tarifas, promociones y normativa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2112263"/>
            <a:ext cx="873252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30551"/>
            <a:ext cx="8732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TARIFAS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Listas de precio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44952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Ajuste por % o precios fijos por producto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Por sala (Terraza +10%)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Por franja horaria (Happy Hour −15%)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Tarifa por defecto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112263"/>
            <a:ext cx="777240" cy="31089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1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Promociones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44952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Happy hour por horario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2x1 / 3x2 (NxM)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Packs a precio fijo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Descuentos por línea y por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74519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2112263"/>
            <a:ext cx="681228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30551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Fiscalidad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44952"/>
            <a:ext cx="310896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IVA múltiple (10/21/4) con desglose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Recargo de equivalencia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Factura numerada con datos fiscales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Cierre Z y arqueo de caja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908792" cy="10058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55778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59612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Cumple TicketBAI y Verifactu  </a:t>
            </a:r>
            <a:r>
              <a:rPr sz="1350" b="0" i="0">
                <a:solidFill>
                  <a:srgbClr val="5EEAD4"/>
                </a:solidFill>
                <a:latin typeface="Calibri"/>
              </a:rPr>
              <a:t>— huella encadenada SHA-256, identificador y QR de verificación en cada ticket y factura.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GESTIÓN DEL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Control total desde Administración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3055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Empleados y permisos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Roles, PIN y permisos editables; acciones sensibles piden autorización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13055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8616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Fichaje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Registro de jornada conforme al RD, centralizado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9327" y="213055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05740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Informes y cierre 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624327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Ventas por producto/familia, formas de pago, cierre de caja numerado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23367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7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Escandallo y margen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Coste por producto: margen € / % y food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423367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Fidelización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Puntos por euro acumulados por cliente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977639"/>
            <a:ext cx="35844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39327" y="423367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0224" y="41605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E293B"/>
                </a:solidFill>
                <a:latin typeface="Calibri"/>
              </a:rPr>
              <a:t>Clientes y facturas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727448"/>
            <a:ext cx="3081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Datos fiscales, descuentos y emisión de facturas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CONECTIVIDAD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libri"/>
              </a:rPr>
              <a:t>Impresión, cobro e integraciones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2112263"/>
            <a:ext cx="777240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30551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Impresión ESC/POS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Impresoras de red por zona (cocina/barra)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Comanda automática al enviar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Ticket de cobro por el TPV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Comentarios y pases en la comanda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112263"/>
            <a:ext cx="681228" cy="31089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1"/>
            <a:ext cx="6812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Datáfonos y efectivo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Datáfonos: lista escalable de terminales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Control de efectivo: Cashlogy, CashKeeper, Glory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Importe enviado al dispositivo por la red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Preparado para multi-terminal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74519"/>
            <a:ext cx="358444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2112263"/>
            <a:ext cx="969264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30551"/>
            <a:ext cx="9692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RESERVAS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5117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TheFork · Google · CoverManager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44952"/>
            <a:ext cx="3108960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Agenda propia por día y cubiertos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API de entrada unificada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Cada reserva etiquetada por origen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64748B"/>
                </a:solidFill>
                <a:latin typeface="Calibri"/>
              </a:rPr>
              <a:t>Sincronizada en tiempo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65760"/>
            <a:ext cx="1828800" cy="18288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EEAD4"/>
                </a:solidFill>
                <a:latin typeface="Calibri"/>
              </a:rPr>
              <a:t>CAPTACIÓN DE RESERVAS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Una agenda, todos los canales de reserva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84448" cy="2788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57984"/>
            <a:ext cx="777240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MÓDULO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Reservas en HOSTELERO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08152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Agenda por día, cubiertos, mesa asignada, estados (confirmada, sentada, no-show) y notas.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20240"/>
            <a:ext cx="3584448" cy="2788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8" y="2157984"/>
            <a:ext cx="969264" cy="310896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176272"/>
            <a:ext cx="9692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CARTA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15184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Carta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308152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El cliente escanea, ve la carta en vivo y pide su reserva desde el móvil. Entra al instante.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920240"/>
            <a:ext cx="3584448" cy="2788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6" y="2157984"/>
            <a:ext cx="489204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176272"/>
            <a:ext cx="4892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VOZ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615184"/>
            <a:ext cx="3081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Agente de voz · CreativeLab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54680"/>
            <a:ext cx="308152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Atiende las llamadas, toma los datos y vuelca la reserva a la agenda, etiquetada por origen.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908792" cy="914400"/>
          </a:xfrm>
          <a:prstGeom prst="roundRect">
            <a:avLst/>
          </a:prstGeom>
          <a:solidFill>
            <a:srgbClr val="EC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38928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Todas las reservas — carta digital, voz, TheFork, Google, CoverManager, teléfono — </a:t>
            </a:r>
            <a:r>
              <a:rPr sz="1450" b="0" i="0">
                <a:solidFill>
                  <a:srgbClr val="0F766E"/>
                </a:solidFill>
                <a:latin typeface="Calibri"/>
              </a:rPr>
              <a:t>en la misma agenda y en tiempo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EEAD4"/>
                </a:solidFill>
                <a:latin typeface="Calibri"/>
              </a:rPr>
              <a:t>ABIERTO POR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HOSTELERO nunca dice que no a una integración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1208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0428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23113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Cualquier datáfono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BD5E1"/>
                </a:solidFill>
                <a:latin typeface="Calibri"/>
              </a:rPr>
              <a:t>Lista escalable de terminales; el importe se rutea por la 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21208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30428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23113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Cualquier efectivo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BD5E1"/>
                </a:solidFill>
                <a:latin typeface="Calibri"/>
              </a:rPr>
              <a:t>Cashlogy, CashKeeper, Glory… control de efectivo integrable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21208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27024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41970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Cualquier reserva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79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BD5E1"/>
                </a:solidFill>
                <a:latin typeface="Calibri"/>
              </a:rPr>
              <a:t>TheFork, Google, CoverManager, carta digital, agente de voz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21208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27024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41970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API abierta y unificada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79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BD5E1"/>
                </a:solidFill>
                <a:latin typeface="Calibri"/>
              </a:rPr>
              <a:t>Si un proveedor existe, HOSTELERO habla con él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4937760"/>
            <a:ext cx="2926080" cy="29260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914400" cy="9144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0850" y="1513046"/>
            <a:ext cx="85725" cy="35718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83744" y="1513046"/>
            <a:ext cx="85725" cy="35718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0850" y="1648777"/>
            <a:ext cx="378618" cy="857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7322" y="1430893"/>
            <a:ext cx="142875" cy="14287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20240" y="1572768"/>
            <a:ext cx="1065276" cy="31089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591056"/>
            <a:ext cx="10652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HOSTELERO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Todo tu local, en una 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EEAD4"/>
                </a:solidFill>
                <a:latin typeface="Calibri"/>
              </a:rPr>
              <a:t>Rápido, estable, bonito y configurable al milímetro — </a:t>
            </a:r>
            <a:r>
              <a:rPr sz="2100" b="1" i="0">
                <a:solidFill>
                  <a:srgbClr val="FFFFFF"/>
                </a:solidFill>
                <a:latin typeface="Calibri"/>
              </a:rPr>
              <a:t>sin depender de internet.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94A3B8"/>
                </a:solidFill>
                <a:latin typeface="Calibri"/>
              </a:rPr>
              <a:t>Listo para presentar y crecer con cada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