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98480" y="640080"/>
            <a:ext cx="1463040" cy="1463040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47120" y="5120640"/>
            <a:ext cx="2011680" cy="2011680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2880" y="5486400"/>
            <a:ext cx="1280160" cy="1280160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841248"/>
            <a:ext cx="868680" cy="86868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77456" y="1105923"/>
            <a:ext cx="81438" cy="3393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355705" y="1105923"/>
            <a:ext cx="81438" cy="3393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7456" y="1234868"/>
            <a:ext cx="359687" cy="8143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06604" y="1027878"/>
            <a:ext cx="135731" cy="135731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74519" y="960120"/>
            <a:ext cx="749808" cy="310896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74519" y="978408"/>
            <a:ext cx="7498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F172A"/>
                </a:solidFill>
                <a:latin typeface="Calibri"/>
              </a:rPr>
              <a:t>IA POS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42032" y="960120"/>
            <a:ext cx="1847088" cy="310896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42032" y="978408"/>
            <a:ext cx="1847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360° · SIN LÍMITES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05740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7400" b="1" i="0">
                <a:solidFill>
                  <a:srgbClr val="FFFFFF"/>
                </a:solidFill>
                <a:latin typeface="Calibri"/>
              </a:rPr>
              <a:t>HOSTELERO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0" i="0">
                <a:solidFill>
                  <a:srgbClr val="5EEAD4"/>
                </a:solidFill>
                <a:latin typeface="Calibri"/>
              </a:rPr>
              <a:t>El primer TPV con IA dentro: </a:t>
            </a:r>
            <a:r>
              <a:rPr sz="2200" b="1" i="0">
                <a:solidFill>
                  <a:srgbClr val="FFFFFF"/>
                </a:solidFill>
                <a:latin typeface="Calibri"/>
              </a:rPr>
              <a:t>se piensa a sí mismo y optimiza tu negocio solo.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897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5EEAD4"/>
                </a:solidFill>
                <a:latin typeface="Calibri"/>
              </a:rPr>
              <a:t>TPV · Comandera · Cocina · Administración · Carta digital · Maître 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274320"/>
            <a:ext cx="2011680" cy="2011680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EEAD4"/>
                </a:solidFill>
                <a:latin typeface="Calibri"/>
              </a:rPr>
              <a:t>EL CONCEPTO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Calibri"/>
              </a:rPr>
              <a:t>No es un TPV. Es un TPV que </a:t>
            </a:r>
            <a:r>
              <a:rPr sz="3800" b="1" i="0">
                <a:solidFill>
                  <a:srgbClr val="5EEAD4"/>
                </a:solidFill>
                <a:latin typeface="Calibri"/>
              </a:rPr>
              <a:t>se piensa a sí mismo.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CBD5E1"/>
                </a:solidFill>
                <a:latin typeface="Calibri"/>
              </a:rPr>
              <a:t>Una herramienta 360°: cubre todo el ciclo del local —venta, sala, cocina, reservas, gestión e IA— sin límites.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17520"/>
            <a:ext cx="3584448" cy="27432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La IA es el núcleo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40480"/>
            <a:ext cx="307238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BD5E1"/>
                </a:solidFill>
                <a:latin typeface="Calibri"/>
              </a:rPr>
              <a:t>El Maître (IA) vive en la raíz de HOSTELERO, no es un añadido. El TPV es el sistema nervioso; la IA, la cabeza.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3017520"/>
            <a:ext cx="3584448" cy="27432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324612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Tú apruebas, él ejecuta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3840480"/>
            <a:ext cx="307238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BD5E1"/>
                </a:solidFill>
                <a:latin typeface="Calibri"/>
              </a:rPr>
              <a:t>Cada propuesta se aprueba antes de aplicarse. El Maître sugiere y actúa; tú mandas. Confianza primero.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83296" y="3017520"/>
            <a:ext cx="3584448" cy="27432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57616" y="324612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Crece contigo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7616" y="3840480"/>
            <a:ext cx="307238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BD5E1"/>
                </a:solidFill>
                <a:latin typeface="Calibri"/>
              </a:rPr>
              <a:t>Lee ventas, escandallo, reservas y personal en tiempo real. Cuanto más lo usas, mejor te conoce.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766E"/>
                </a:solidFill>
                <a:latin typeface="Calibri"/>
              </a:rPr>
              <a:t>LA PROPUESTA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E293B"/>
                </a:solidFill>
                <a:latin typeface="Calibri"/>
              </a:rPr>
              <a:t>Una herramienta 360° que no depende de la nube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35844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5400" b="1" i="0">
                <a:solidFill>
                  <a:srgbClr val="0F766E"/>
                </a:solidFill>
                <a:latin typeface="Calibri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4748B"/>
                </a:solidFill>
                <a:latin typeface="Calibri"/>
              </a:rPr>
              <a:t>dependencia de internet — si cae la línea, el local sigue cobrando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1874519"/>
            <a:ext cx="35844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6008" y="2011680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5400" b="1" i="0">
                <a:solidFill>
                  <a:srgbClr val="0F766E"/>
                </a:solidFill>
                <a:latin typeface="Calibr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6008" y="2971800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4748B"/>
                </a:solidFill>
                <a:latin typeface="Calibri"/>
              </a:rPr>
              <a:t>aplicaciones coordinadas en tiempo real en todos los dispositivos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3296" y="1874519"/>
            <a:ext cx="35844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7616" y="2011680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5400" b="1" i="0">
                <a:solidFill>
                  <a:srgbClr val="0F766E"/>
                </a:solidFill>
                <a:latin typeface="Calibri"/>
              </a:rPr>
              <a:t>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7616" y="2971800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4748B"/>
                </a:solidFill>
                <a:latin typeface="Calibri"/>
              </a:rPr>
              <a:t>sin límites: escalable y adaptable al 100% de cada negocio, sin tocar el código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023360"/>
            <a:ext cx="10908792" cy="2194560"/>
          </a:xfrm>
          <a:prstGeom prst="roundRect">
            <a:avLst/>
          </a:prstGeom>
          <a:solidFill>
            <a:srgbClr val="EC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2452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E293B"/>
                </a:solidFill>
                <a:latin typeface="Calibri"/>
              </a:rPr>
              <a:t>Pensado a partir de la referencia del sector y reinventado con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754880"/>
            <a:ext cx="102412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Multipuesto por red local (cada app en su puerto), sin servidores externos ni cuotas de nube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Datos centralizados en tiempo real: una sola fuente para TPV, cocina, sala y administración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El Maître (IA) convierte esos datos en decisiones: precios, stock, tarifas, turnos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766E"/>
                </a:solidFill>
                <a:latin typeface="Calibri"/>
              </a:rPr>
              <a:t>ARQUITECTURA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E293B"/>
                </a:solidFill>
                <a:latin typeface="Calibri"/>
              </a:rPr>
              <a:t>Cuatro aplicaciones, un mismo cerebro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2688336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2212848"/>
            <a:ext cx="822960" cy="8229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12848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TPV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21854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E293B"/>
                </a:solidFill>
                <a:latin typeface="Calibri"/>
              </a:rPr>
              <a:t>Terminal de venta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703320"/>
            <a:ext cx="2185416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Plano, comanda, cobro (efectivo, tarjeta, mixto, dividir), tickets y facturas.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920240"/>
            <a:ext cx="2688336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57600" y="2212848"/>
            <a:ext cx="822960" cy="82296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2212848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200400"/>
            <a:ext cx="21854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E293B"/>
                </a:solidFill>
                <a:latin typeface="Calibri"/>
              </a:rPr>
              <a:t>Tablet y móvil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703320"/>
            <a:ext cx="2185416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Comandas en sala con el mismo plano y carta; a cocina al instante.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920240"/>
            <a:ext cx="2688336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0" y="2212848"/>
            <a:ext cx="822960" cy="8229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212848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KDS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200400"/>
            <a:ext cx="21854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E293B"/>
                </a:solidFill>
                <a:latin typeface="Calibri"/>
              </a:rPr>
              <a:t>Monitor de cocina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703320"/>
            <a:ext cx="2185416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Comandas por zonas; preparando/listo y aviso al camarero.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69680" y="1920240"/>
            <a:ext cx="2688336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44000" y="2212848"/>
            <a:ext cx="822960" cy="82296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0" y="2212848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ADM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3200400"/>
            <a:ext cx="21854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E293B"/>
                </a:solidFill>
                <a:latin typeface="Calibri"/>
              </a:rPr>
              <a:t>Administración + 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3703320"/>
            <a:ext cx="2185416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Carta, tarifas, reservas… y el Maître que optimiza todo.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766E"/>
                </a:solidFill>
                <a:latin typeface="Calibri"/>
              </a:rPr>
              <a:t>INTELIGENCIA DENTRO DEL POS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E293B"/>
                </a:solidFill>
                <a:latin typeface="Calibri"/>
              </a:rPr>
              <a:t>El Maître que optimiza tu negocio solo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3584448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77824" y="2002536"/>
            <a:ext cx="749808" cy="310896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2020824"/>
            <a:ext cx="7498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PRECIO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441448"/>
            <a:ext cx="31272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E293B"/>
                </a:solidFill>
                <a:latin typeface="Calibri"/>
              </a:rPr>
              <a:t>Sube Entrecot a 20,00 €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862072"/>
            <a:ext cx="31272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Food cost 42% (alto). A 20 € baja al 38% y el margen sube al 62%. Rota igual.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4050791"/>
            <a:ext cx="31272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6A34A"/>
                </a:solidFill>
                <a:latin typeface="Calibri"/>
              </a:rPr>
              <a:t>+2,00 € por unidad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7824" y="4434840"/>
            <a:ext cx="1371600" cy="36576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4453128"/>
            <a:ext cx="1371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Aplicar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1783080"/>
            <a:ext cx="3584448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53712" y="2002536"/>
            <a:ext cx="841248" cy="310896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2020824"/>
            <a:ext cx="84124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DEMANDA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441448"/>
            <a:ext cx="31272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E293B"/>
                </a:solidFill>
                <a:latin typeface="Calibri"/>
              </a:rPr>
              <a:t>Día fuerte: activa Happy Hour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862072"/>
            <a:ext cx="31272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12 cubiertos reservados hoy, pico a las 21:00. Activa la tarifa de hora punta.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4050791"/>
            <a:ext cx="31272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854F0B"/>
                </a:solidFill>
                <a:latin typeface="Calibri"/>
              </a:rPr>
              <a:t>+ ingreso por cubierto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53712" y="4434840"/>
            <a:ext cx="1371600" cy="36576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4453128"/>
            <a:ext cx="1371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Activar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91856" y="1783080"/>
            <a:ext cx="3584448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600" y="2002536"/>
            <a:ext cx="1115568" cy="310896"/>
          </a:xfrm>
          <a:prstGeom prst="round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2020824"/>
            <a:ext cx="11155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ESCANDALLO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441448"/>
            <a:ext cx="31272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E293B"/>
                </a:solidFill>
                <a:latin typeface="Calibri"/>
              </a:rPr>
              <a:t>Completa el coste de Croquetas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862072"/>
            <a:ext cx="31272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Sin coste no puedo optimizar su margen. Defínelo y entra en la mejora automática.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050791"/>
            <a:ext cx="31272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D28D9"/>
                </a:solidFill>
                <a:latin typeface="Calibri"/>
              </a:rPr>
              <a:t>Desbloquea optimización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0" y="4434840"/>
            <a:ext cx="1371600" cy="36576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4453128"/>
            <a:ext cx="1371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Abrir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166360"/>
            <a:ext cx="10908792" cy="91440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5303520"/>
            <a:ext cx="10332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Informes que no solo describen: </a:t>
            </a:r>
            <a:r>
              <a:rPr sz="1600" b="0" i="0">
                <a:solidFill>
                  <a:srgbClr val="5EEAD4"/>
                </a:solidFill>
                <a:latin typeface="Calibri"/>
              </a:rPr>
              <a:t>proponen y ejecutan. Tú apruebas con un clic, el Maître aplica el cambio.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766E"/>
                </a:solidFill>
                <a:latin typeface="Calibri"/>
              </a:rPr>
              <a:t>IA PARA TODO EL EQUIPO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E293B"/>
                </a:solidFill>
                <a:latin typeface="Calibri"/>
              </a:rPr>
              <a:t>Un Maître para cada puesto, según permisos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3584448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6112" y="2020824"/>
            <a:ext cx="1755648" cy="310896"/>
          </a:xfrm>
          <a:prstGeom prst="round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39112"/>
            <a:ext cx="175564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ADMIN / ENCARGADO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5973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Optimización total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53512"/>
            <a:ext cx="3108960" cy="1005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Precios y márgenes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Tarifas por demanda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Escandallo y compras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783080"/>
            <a:ext cx="3584448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0" y="2020824"/>
            <a:ext cx="932688" cy="310896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039112"/>
            <a:ext cx="9326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CAMARERO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45973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Más venta en sala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953512"/>
            <a:ext cx="3108960" cy="1005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Sugerencias de upselling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Avisos de 86 en vivo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Qué ofrecer hoy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1783080"/>
            <a:ext cx="3584448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47888" y="2020824"/>
            <a:ext cx="749808" cy="310896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039112"/>
            <a:ext cx="7498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COCINA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45973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Anticipa el servicio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2953512"/>
            <a:ext cx="3108960" cy="1005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Previsión de cubiertos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Stock y mise en place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Picos del día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3434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766E"/>
                </a:solidFill>
                <a:latin typeface="Calibri"/>
              </a:rPr>
              <a:t>EL BUCLE QUE NO PARA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754880"/>
            <a:ext cx="1828800" cy="640080"/>
          </a:xfrm>
          <a:prstGeom prst="roundRect">
            <a:avLst/>
          </a:prstGeom>
          <a:solidFill>
            <a:srgbClr val="EC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773168"/>
            <a:ext cx="18288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F766E"/>
                </a:solidFill>
                <a:latin typeface="Calibri"/>
              </a:rPr>
              <a:t>Analiza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4754880"/>
            <a:ext cx="31089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94A3B8"/>
                </a:solidFill>
                <a:latin typeface="Calibri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79776" y="4754880"/>
            <a:ext cx="1828800" cy="640080"/>
          </a:xfrm>
          <a:prstGeom prst="roundRect">
            <a:avLst/>
          </a:prstGeom>
          <a:solidFill>
            <a:srgbClr val="EC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79776" y="4773168"/>
            <a:ext cx="18288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F766E"/>
                </a:solidFill>
                <a:latin typeface="Calibri"/>
              </a:rPr>
              <a:t>Propone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8576" y="4754880"/>
            <a:ext cx="31089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94A3B8"/>
                </a:solidFill>
                <a:latin typeface="Calibri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19472" y="4754880"/>
            <a:ext cx="1828800" cy="640080"/>
          </a:xfrm>
          <a:prstGeom prst="roundRect">
            <a:avLst/>
          </a:prstGeom>
          <a:solidFill>
            <a:srgbClr val="EC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19472" y="4773168"/>
            <a:ext cx="18288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F766E"/>
                </a:solidFill>
                <a:latin typeface="Calibri"/>
              </a:rPr>
              <a:t>Tú apruebas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8272" y="4754880"/>
            <a:ext cx="31089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94A3B8"/>
                </a:solidFill>
                <a:latin typeface="Calibri"/>
              </a:rPr>
              <a:t>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59168" y="4754880"/>
            <a:ext cx="1828800" cy="640080"/>
          </a:xfrm>
          <a:prstGeom prst="roundRect">
            <a:avLst/>
          </a:prstGeom>
          <a:solidFill>
            <a:srgbClr val="EC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59168" y="4773168"/>
            <a:ext cx="18288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F766E"/>
                </a:solidFill>
                <a:latin typeface="Calibri"/>
              </a:rPr>
              <a:t>Ejecuta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7" y="4754880"/>
            <a:ext cx="31089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94A3B8"/>
                </a:solidFill>
                <a:latin typeface="Calibri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98863" y="4754880"/>
            <a:ext cx="1828800" cy="640080"/>
          </a:xfrm>
          <a:prstGeom prst="roundRect">
            <a:avLst/>
          </a:prstGeom>
          <a:solidFill>
            <a:srgbClr val="EC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98863" y="4773168"/>
            <a:ext cx="18288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F766E"/>
                </a:solidFill>
                <a:latin typeface="Calibri"/>
              </a:rPr>
              <a:t>Aprende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766E"/>
                </a:solidFill>
                <a:latin typeface="Calibri"/>
              </a:rPr>
              <a:t>EN SALA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E293B"/>
                </a:solidFill>
                <a:latin typeface="Calibri"/>
              </a:rPr>
              <a:t>Sala y servicio, como en la vida real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3584448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6112" y="2112263"/>
            <a:ext cx="658368" cy="310896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30551"/>
            <a:ext cx="6583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PLANO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55117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Plano editable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044952"/>
            <a:ext cx="3108960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Mesas con forma y plazas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Salas con color y suelo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Barra, billar, plantas, sofá, aseos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Arrastrar y colocar a tu gusto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874519"/>
            <a:ext cx="3584448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0" y="2112263"/>
            <a:ext cx="841248" cy="310896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130551"/>
            <a:ext cx="84124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COMANDA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55117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Servicio por pases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044952"/>
            <a:ext cx="3108960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Orden de platos 123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Comensales por mesa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Avisos de cocina en tiempo real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Ocupadas y libres de un vistazo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1874519"/>
            <a:ext cx="3584448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47888" y="2112263"/>
            <a:ext cx="658368" cy="310896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130551"/>
            <a:ext cx="6583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COBRO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55117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Cobro flexible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3044952"/>
            <a:ext cx="3108960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Efectivo, tarjeta y mixto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Dividir cuenta y propinas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Descuentos e invitaciones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Ticket y factura fiscales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766E"/>
                </a:solidFill>
                <a:latin typeface="Calibri"/>
              </a:rPr>
              <a:t>LA CARTA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E293B"/>
                </a:solidFill>
                <a:latin typeface="Calibri"/>
              </a:rPr>
              <a:t>Productos configurables al detalle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35844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96112" y="2130552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7" y="2057400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E293B"/>
                </a:solidFill>
                <a:latin typeface="Calibri"/>
              </a:rPr>
              <a:t>Ficha completa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06039"/>
            <a:ext cx="3081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4 nombres y 3 precios (principal, añadido, suplemento)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1688" y="1874519"/>
            <a:ext cx="35844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17720" y="2130552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28616" y="2057400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E293B"/>
                </a:solidFill>
                <a:latin typeface="Calibri"/>
              </a:rPr>
              <a:t>Botón Copiar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2606039"/>
            <a:ext cx="3081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Crea un producto a partir de otro en segundos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83296" y="1874519"/>
            <a:ext cx="35844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339327" y="2130552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50224" y="2057400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E293B"/>
                </a:solidFill>
                <a:latin typeface="Calibri"/>
              </a:rPr>
              <a:t>Modificadores y menús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7616" y="2606039"/>
            <a:ext cx="3081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Extras, menú del día y combinados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931920"/>
            <a:ext cx="35844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96112" y="4187952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7" y="4114800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E293B"/>
                </a:solidFill>
                <a:latin typeface="Calibri"/>
              </a:rPr>
              <a:t>Producto por peso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663440"/>
            <a:ext cx="3081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Pregunta el peso y cobra €/kg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61688" y="3931920"/>
            <a:ext cx="35844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617720" y="4187952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28616" y="4114800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E293B"/>
                </a:solidFill>
                <a:latin typeface="Calibri"/>
              </a:rPr>
              <a:t>Disponibilidad (86)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36008" y="4663440"/>
            <a:ext cx="3081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Agotar/reactivar en tiempo real desde cualquier app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83296" y="3931920"/>
            <a:ext cx="35844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39327" y="4187952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50224" y="4114800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E293B"/>
                </a:solidFill>
                <a:latin typeface="Calibri"/>
              </a:rPr>
              <a:t>Comentarios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57616" y="4663440"/>
            <a:ext cx="3081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Por familia y globales: sin gluten, poco hecho…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766E"/>
                </a:solidFill>
                <a:latin typeface="Calibri"/>
              </a:rPr>
              <a:t>PRECIOS Y FISCALIDAD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E293B"/>
                </a:solidFill>
                <a:latin typeface="Calibri"/>
              </a:rPr>
              <a:t>Tarifas, promociones y normativa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3584448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6112" y="2066543"/>
            <a:ext cx="841248" cy="310896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84831"/>
            <a:ext cx="84124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TARIFAS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50545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Listas de precio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99232"/>
            <a:ext cx="310896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Por % o precio fijo por producto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Por sala (Terraza +10%)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Por horario (Happy Hour −15%)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Tarifa por defecto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828800"/>
            <a:ext cx="3584448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0" y="2066543"/>
            <a:ext cx="749808" cy="310896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084831"/>
            <a:ext cx="7498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50545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Promociones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999232"/>
            <a:ext cx="310896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Happy hour por horario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2x1 / 3x2 (NxM)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Packs a precio fijo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Descuentos por línea y ticket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1828800"/>
            <a:ext cx="3584448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47888" y="2066543"/>
            <a:ext cx="658368" cy="310896"/>
          </a:xfrm>
          <a:prstGeom prst="round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084831"/>
            <a:ext cx="6583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LEGAL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50545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Fiscalidad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2999232"/>
            <a:ext cx="310896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IVA múltiple con desglose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Recargo de equivalencia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Factura con datos fiscales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Cierre Z y arqueo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120640"/>
            <a:ext cx="10908792" cy="91440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60120" y="5376672"/>
            <a:ext cx="420624" cy="42062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" y="5394960"/>
            <a:ext cx="43891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5248656"/>
            <a:ext cx="9875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Cumple TicketBAI y Verifactu  </a:t>
            </a:r>
            <a:r>
              <a:rPr sz="1300" b="0" i="0">
                <a:solidFill>
                  <a:srgbClr val="5EEAD4"/>
                </a:solidFill>
                <a:latin typeface="Calibri"/>
              </a:rPr>
              <a:t>— huella encadenada SHA-256 y QR de verificación en cada ticket y factura.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766E"/>
                </a:solidFill>
                <a:latin typeface="Calibri"/>
              </a:rPr>
              <a:t>CONECTIVIDAD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E293B"/>
                </a:solidFill>
                <a:latin typeface="Calibri"/>
              </a:rPr>
              <a:t>Impresión, cobro e integraciones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3584448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6112" y="2112263"/>
            <a:ext cx="749808" cy="310896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30551"/>
            <a:ext cx="7498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COCINA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55117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Impresión ESC/POS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044952"/>
            <a:ext cx="3108960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Impresoras por zona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Comanda automática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Ticket por el TPV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Comentarios y pases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874519"/>
            <a:ext cx="3584448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0" y="2112263"/>
            <a:ext cx="658368" cy="310896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130551"/>
            <a:ext cx="6583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PAGOS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55117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Datáfonos y efectivo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044952"/>
            <a:ext cx="3108960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Datáfonos escalables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Cashlogy · CashKeeper · Glory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Importe por la red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Multi-terminal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1874519"/>
            <a:ext cx="3584448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47888" y="2112263"/>
            <a:ext cx="932688" cy="310896"/>
          </a:xfrm>
          <a:prstGeom prst="round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130551"/>
            <a:ext cx="9326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RESERVAS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55117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TheFork · Google · CoverManager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3044952"/>
            <a:ext cx="3108960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Agenda y cubiertos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API unificada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Etiquetada por origen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Tiempo real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881360" y="365760"/>
            <a:ext cx="1828800" cy="1828800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EEAD4"/>
                </a:solidFill>
                <a:latin typeface="Calibri"/>
              </a:rPr>
              <a:t>CAPTACIÓN DE RESERVAS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Una agenda, todos los canales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3584448" cy="26974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157984"/>
            <a:ext cx="749808" cy="310896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76272"/>
            <a:ext cx="7498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MÓDULO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15184"/>
            <a:ext cx="3081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Reservas en HOSTELERO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308152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BD5E1"/>
                </a:solidFill>
                <a:latin typeface="Calibri"/>
              </a:rPr>
              <a:t>Agenda por día, cubiertos, mesa, estados y notas.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1688" y="1920240"/>
            <a:ext cx="3584448" cy="26974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36008" y="2157984"/>
            <a:ext cx="932688" cy="310896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8" y="2176272"/>
            <a:ext cx="9326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CARTA QR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615184"/>
            <a:ext cx="3081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Carta digital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3127248"/>
            <a:ext cx="308152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BD5E1"/>
                </a:solidFill>
                <a:latin typeface="Calibri"/>
              </a:rPr>
              <a:t>El cliente ve la carta y reserva desde el móvil. Entra al instante.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3296" y="1920240"/>
            <a:ext cx="3584448" cy="26974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57616" y="2157984"/>
            <a:ext cx="475488" cy="310896"/>
          </a:xfrm>
          <a:prstGeom prst="round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2176272"/>
            <a:ext cx="4754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VOZ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615184"/>
            <a:ext cx="3081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Agente de voz · CreativeLab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3127248"/>
            <a:ext cx="308152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BD5E1"/>
                </a:solidFill>
                <a:latin typeface="Calibri"/>
              </a:rPr>
              <a:t>Atiende llamadas y vuelca la reserva a la agenda.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892040"/>
            <a:ext cx="10908792" cy="914400"/>
          </a:xfrm>
          <a:prstGeom prst="roundRect">
            <a:avLst/>
          </a:prstGeom>
          <a:solidFill>
            <a:srgbClr val="EC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047488"/>
            <a:ext cx="10332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Carta digital, voz, TheFork, Google, CoverManager, teléfono — </a:t>
            </a:r>
            <a:r>
              <a:rPr sz="1400" b="0" i="0">
                <a:solidFill>
                  <a:srgbClr val="0F766E"/>
                </a:solidFill>
                <a:latin typeface="Calibri"/>
              </a:rPr>
              <a:t>todo en la misma agenda y en tiempo real.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4480560"/>
            <a:ext cx="2377440" cy="2377440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EEAD4"/>
                </a:solidFill>
                <a:latin typeface="Calibri"/>
              </a:rPr>
              <a:t>ABIERTO POR DISEÑO · SIN LÍMITES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HOSTELERO nunca dice que no a una integración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12080" cy="16916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286000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7" y="2212848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Cualquier datáfono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43200"/>
            <a:ext cx="4709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BD5E1"/>
                </a:solidFill>
                <a:latin typeface="Calibri"/>
              </a:rPr>
              <a:t>Lista escalable; el importe se rutea por la 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011680"/>
            <a:ext cx="5212080" cy="16916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0" y="2286000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76288" y="2212848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Cualquier efectivo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743200"/>
            <a:ext cx="4709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BD5E1"/>
                </a:solidFill>
                <a:latin typeface="Calibri"/>
              </a:rPr>
              <a:t>Cashlogy, CashKeeper, Glory… integrables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886200"/>
            <a:ext cx="5212080" cy="16916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4160520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7007" y="4087368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Cualquier reserva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17720"/>
            <a:ext cx="4709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BD5E1"/>
                </a:solidFill>
                <a:latin typeface="Calibri"/>
              </a:rPr>
              <a:t>TheFork, Google, CoverManager, carta, voz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3886200"/>
            <a:ext cx="5212080" cy="16916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83680" y="4160520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76288" y="4087368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API abierta y unificada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617720"/>
            <a:ext cx="4709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BD5E1"/>
                </a:solidFill>
                <a:latin typeface="Calibri"/>
              </a:rPr>
              <a:t>Si un proveedor existe, HOSTELERO habla con él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31520" y="-731520"/>
            <a:ext cx="2743200" cy="2743200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155680" y="4937760"/>
            <a:ext cx="2926080" cy="2926080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143000"/>
            <a:ext cx="914400" cy="9144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90850" y="1421606"/>
            <a:ext cx="85725" cy="357187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383744" y="1421606"/>
            <a:ext cx="85725" cy="357187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0850" y="1557337"/>
            <a:ext cx="378618" cy="85725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37322" y="1339453"/>
            <a:ext cx="142875" cy="142875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920240" y="1325880"/>
            <a:ext cx="1389888" cy="310896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0240" y="1344168"/>
            <a:ext cx="13898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F172A"/>
                </a:solidFill>
                <a:latin typeface="Calibri"/>
              </a:rPr>
              <a:t>IA POS · 360°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10972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5000" b="1" i="0">
                <a:solidFill>
                  <a:srgbClr val="FFFFFF"/>
                </a:solidFill>
                <a:latin typeface="Calibri"/>
              </a:rPr>
              <a:t>Tú apruebas. Él ejecuta.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118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 i="0">
                <a:solidFill>
                  <a:srgbClr val="5EEAD4"/>
                </a:solidFill>
                <a:latin typeface="Calibri"/>
              </a:rPr>
              <a:t>Tu local crece porque el sistema </a:t>
            </a:r>
            <a:r>
              <a:rPr sz="2100" b="1" i="0">
                <a:solidFill>
                  <a:srgbClr val="FFFFFF"/>
                </a:solidFill>
                <a:latin typeface="Calibri"/>
              </a:rPr>
              <a:t>piensa por él.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6692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94A3B8"/>
                </a:solidFill>
                <a:latin typeface="Calibri"/>
              </a:rPr>
              <a:t>HOSTELERO · IA POS — el primer TPV que se piensa a sí mismo. www.hosteleroiapos.com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