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9" r:id="rId20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98480" y="640080"/>
            <a:ext cx="1463040" cy="14630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247120" y="512064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" y="5486400"/>
            <a:ext cx="1280160" cy="128016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841248"/>
            <a:ext cx="868680" cy="86868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077456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355705" y="1105923"/>
            <a:ext cx="81438" cy="33932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077456" y="1234868"/>
            <a:ext cx="359687" cy="8143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06604" y="1027878"/>
            <a:ext cx="135731" cy="135731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874519" y="960120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74519" y="978408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542032" y="960120"/>
            <a:ext cx="18470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42032" y="978408"/>
            <a:ext cx="18470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360° · SIN LÍMITES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057400"/>
            <a:ext cx="106070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7400" b="1" i="0">
                <a:solidFill>
                  <a:srgbClr val="FFFFFF"/>
                </a:solidFill>
                <a:latin typeface="Calibri"/>
              </a:rPr>
              <a:t>HOSTELERO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456432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5EEAD4"/>
                </a:solidFill>
                <a:latin typeface="Calibri"/>
              </a:rPr>
              <a:t>El primer TPV con IA dentro: </a:t>
            </a:r>
            <a:r>
              <a:rPr sz="2200" b="1" i="0">
                <a:solidFill>
                  <a:srgbClr val="FFFFFF"/>
                </a:solidFill>
                <a:latin typeface="Calibri"/>
              </a:rPr>
              <a:t>se piensa a sí mismo y optimiza tu negocio solo.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97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5EEAD4"/>
                </a:solidFill>
                <a:latin typeface="Calibri"/>
              </a:rPr>
              <a:t>TPV · Comandera · Cocina · Administración · Carta digital · Maître 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274320"/>
            <a:ext cx="2011680" cy="20116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66928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EL CONCEPTO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32688"/>
            <a:ext cx="113385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700" b="1" i="0">
                <a:solidFill>
                  <a:srgbClr val="FFFFFF"/>
                </a:solidFill>
                <a:latin typeface="Calibri"/>
              </a:rPr>
              <a:t>No es un TPV con IA. Es </a:t>
            </a:r>
            <a:r>
              <a:rPr sz="3700" b="1" i="0">
                <a:solidFill>
                  <a:srgbClr val="5EEAD4"/>
                </a:solidFill>
                <a:latin typeface="Calibri"/>
              </a:rPr>
              <a:t>IA con forma de TPV.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21408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CBD5E1"/>
                </a:solidFill>
                <a:latin typeface="Calibri"/>
              </a:rPr>
              <a:t>El Maître es el cerebro y el gerente de tu local — no una utilidad de moda pegada a un POS. Si le quitas la IA, no queda un TPV con menos funciones: queda un cuerpo sin cabeza.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15468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33649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El cerebro y el gerente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93192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El Maître dirige el local: el TPV, la cocina y la sala son los sentidos y las manos; la IA, la cabeza que piensa y decide.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61688" y="315468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36008" y="33649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Tú apruebas, él ejecuta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36008" y="393192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Propone y actúa en tiempo real. La última palabra siempre es tuya. Confianza primero.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83296" y="315468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7616" y="3364992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Omnipresente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3931920"/>
            <a:ext cx="3072384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CBD5E1"/>
                </a:solidFill>
                <a:latin typeface="Calibri"/>
              </a:rPr>
              <a:t>Vive en todas las pantallas, no en una pestaña: te avisa y propone según tu puesto.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PROPUESTA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Una herramienta 360° que no depende de la nube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dependencia de internet — si cae la línea, el local sigue cobrando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36008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36008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aplicaciones coordinadas en tiempo real en todos los dispositivos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57616" y="2011680"/>
            <a:ext cx="3108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0F766E"/>
                </a:solidFill>
                <a:latin typeface="Calibri"/>
              </a:rPr>
              <a:t>∞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57616" y="2971800"/>
            <a:ext cx="30632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4748B"/>
                </a:solidFill>
                <a:latin typeface="Calibri"/>
              </a:rPr>
              <a:t>sin límites: escalable y adaptable al 100% de cada negocio, sin tocar el código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023360"/>
            <a:ext cx="10908792" cy="219456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224528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1E293B"/>
                </a:solidFill>
                <a:latin typeface="Calibri"/>
              </a:rPr>
              <a:t>Pensado a partir de la referencia del sector y reinventado con 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754880"/>
            <a:ext cx="1024128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Multipuesto por red local (cada app en su puerto), sin servidores externos ni cuotas de nube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Datos centralizados en tiempo real: una sola fuente para TPV, cocina, sala y administración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•  </a:t>
            </a:r>
            <a:r>
              <a:rPr sz="1400" b="0" i="0">
                <a:solidFill>
                  <a:srgbClr val="1E293B"/>
                </a:solidFill>
                <a:latin typeface="Calibri"/>
              </a:rPr>
              <a:t>El Maître (IA) convierte esos datos en decisiones: precios, stock, tarifas, turnos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ARQUITECTURA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Cuatro aplicaciones, un mismo cerebro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2212848"/>
            <a:ext cx="822960" cy="822960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TPV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Terminal de venta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Plano, comanda, cobro (efectivo, tarjeta, mixto, dividir), tickets y facturas.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57600" y="2212848"/>
            <a:ext cx="822960" cy="822960"/>
          </a:xfrm>
          <a:prstGeom prst="ellipse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COM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Tablet y móvil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en sala con el mismo plano y carta; a cocina al instante.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00800" y="2212848"/>
            <a:ext cx="822960" cy="822960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KDS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Monitor de cocina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Comandas por zonas; preparando/listo y aviso al camarero.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869680" y="1920240"/>
            <a:ext cx="2688336" cy="4023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44000" y="2212848"/>
            <a:ext cx="822960" cy="822960"/>
          </a:xfrm>
          <a:prstGeom prst="ellipse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0" y="2212848"/>
            <a:ext cx="82296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ADM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3200400"/>
            <a:ext cx="218541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1E293B"/>
                </a:solidFill>
                <a:latin typeface="Calibri"/>
              </a:rPr>
              <a:t>Administración + IA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3703320"/>
            <a:ext cx="2185416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Carta, tarifas, reservas… y el Maître que optimiza todo.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INTELIGENCIA DENTRO DEL POS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El Maître que optimiza tu negocio solo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77824" y="2002536"/>
            <a:ext cx="749808" cy="310896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77824" y="2020824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PRECIO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Sube Entrecot a 20,00 €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Food cost 42% (alto). A 20 € baja al 38% y el margen sube al 62%. Rota igual.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77824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16A34A"/>
                </a:solidFill>
                <a:latin typeface="Calibri"/>
              </a:rPr>
              <a:t>+2,00 € por unidad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77824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Aplicar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3712" y="2002536"/>
            <a:ext cx="84124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53712" y="2020824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DEMANDA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53712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Día fuerte: activa Happy Hour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53712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12 cubiertos reservados hoy, pico a las 21:00. Activa la tarifa de hora punta.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53712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854F0B"/>
                </a:solidFill>
                <a:latin typeface="Calibri"/>
              </a:rPr>
              <a:t>+ ingreso por cubierto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53712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53712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Activar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91856" y="1783080"/>
            <a:ext cx="3584448" cy="3200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229600" y="2002536"/>
            <a:ext cx="11155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2020824"/>
            <a:ext cx="11155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ESCANDALLO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441448"/>
            <a:ext cx="312724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50" b="1" i="0">
                <a:solidFill>
                  <a:srgbClr val="1E293B"/>
                </a:solidFill>
                <a:latin typeface="Calibri"/>
              </a:rPr>
              <a:t>Completa el coste de Croquetas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0" y="2862072"/>
            <a:ext cx="3127248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Sin coste no puedo optimizar su margen. Defínelo y entra en la mejora automática.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050791"/>
            <a:ext cx="31272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6D28D9"/>
                </a:solidFill>
                <a:latin typeface="Calibri"/>
              </a:rPr>
              <a:t>Desbloquea optimización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0" y="4434840"/>
            <a:ext cx="1371600" cy="36576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4453128"/>
            <a:ext cx="1371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Abrir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6636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0120" y="5303520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Informes que no solo describen: </a:t>
            </a:r>
            <a:r>
              <a:rPr sz="1600" b="0" i="0">
                <a:solidFill>
                  <a:srgbClr val="5EEAD4"/>
                </a:solidFill>
                <a:latin typeface="Calibri"/>
              </a:rPr>
              <a:t>proponen y ejecutan. Tú apruebas con un clic, el Maître aplica el cambio.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IA PARA TODO EL EQUIPO · EN TODA PANTALLA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Un Maître para cada puesto, según permisos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20824"/>
            <a:ext cx="175564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39112"/>
            <a:ext cx="17556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ADMIN / ENCARGADO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Optimización total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Precios y márgenes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Tarifas por demanda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Escandallo y compras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20824"/>
            <a:ext cx="93268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3911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CAMARERO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Más venta en sala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Sugerencias de upselling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86 en vivo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Qué ofrecer hoy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783080"/>
            <a:ext cx="3584448" cy="2331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20824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3911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45973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Anticipa el servicio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53512"/>
            <a:ext cx="3108960" cy="10058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Previsión de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Stock y mise en place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Picos del día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3434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F766E"/>
                </a:solidFill>
                <a:latin typeface="Calibri"/>
              </a:rPr>
              <a:t>EL BUCLE QUE NO PARA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Analiza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468880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779776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79776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Propone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08576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919472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919472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Tú apruebas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2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059168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59168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Ejecuta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87967" y="4754880"/>
            <a:ext cx="310896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94A3B8"/>
                </a:solidFill>
                <a:latin typeface="Calibri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98863" y="4754880"/>
            <a:ext cx="1828800" cy="64008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198863" y="4773168"/>
            <a:ext cx="1828800" cy="60350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F766E"/>
                </a:solidFill>
                <a:latin typeface="Calibri"/>
              </a:rPr>
              <a:t>Aprende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EN SALA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Sala y servicio, como en la vida real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65836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PLANO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Plano editable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Mesas con forma y plazas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Salas con color y suelo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Barra, billar, plantas, sofá, aseos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Arrastrar y colocar a tu gusto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84124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COMANDA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Servicio por 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Orden de platos 123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Comensales por mesa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Avisos de cocina en tiempo real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Ocupadas y libres de un vistazo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COBRO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Cobro flexible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Efectivo, tarjeta y mixto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Dividir cuenta y propinas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e invitaciones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y factura fiscales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LA CARTA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Productos configurables al detalle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96112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7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Ficha completa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4 nombres y 3 precios (principal, añadido, suplemento)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61688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617720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928616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Botón Copiar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Crea un producto a partir de otro en segundos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83296" y="1874519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8339327" y="21305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50224" y="20574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Modificadores y menús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7616" y="2606039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Extras, menú del día y combinados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96112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7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Producto por peso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Pregunta el peso y cobra €/kg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61688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4617720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28616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Disponibilidad (86)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6008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Agotar/reactivar en tiempo real desde cualquier app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83296" y="3931920"/>
            <a:ext cx="3584448" cy="1828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339327" y="4187952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50224" y="4114800"/>
            <a:ext cx="28529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1E293B"/>
                </a:solidFill>
                <a:latin typeface="Calibri"/>
              </a:rPr>
              <a:t>Comentarios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57616" y="4663440"/>
            <a:ext cx="3081528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64748B"/>
                </a:solidFill>
                <a:latin typeface="Calibri"/>
              </a:rPr>
              <a:t>Por familia y globales: sin gluten, poco hecho…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PRECIOS Y FISCALIDAD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Tarifas, promociones y normativa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066543"/>
            <a:ext cx="84124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84831"/>
            <a:ext cx="84124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TARIFAS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Listas de precio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% o precio fijo por producto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sala (Terraza +10%)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Por horario (Happy Hour −15%)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Tarifa por defecto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066543"/>
            <a:ext cx="74980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08483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PROMOS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Promociones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Happy hour por horario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2x1 / 3x2 (NxM)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Packs a precio fijo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Descuentos por línea y ticket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28800"/>
            <a:ext cx="3584448" cy="31089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066543"/>
            <a:ext cx="65836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08483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LEGAL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0545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Fiscalidad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2999232"/>
            <a:ext cx="3108960" cy="1783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IVA múltiple con desglose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Recargo de equivalencia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Factura con datos fiscales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Cierre Z y arqueo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120640"/>
            <a:ext cx="10908792" cy="91440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60120" y="5376672"/>
            <a:ext cx="420624" cy="42062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0976" y="5394960"/>
            <a:ext cx="4389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5248656"/>
            <a:ext cx="9875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Cumple TicketBAI y Verifactu  </a:t>
            </a:r>
            <a:r>
              <a:rPr sz="1300" b="0" i="0">
                <a:solidFill>
                  <a:srgbClr val="5EEAD4"/>
                </a:solidFill>
                <a:latin typeface="Calibri"/>
              </a:rPr>
              <a:t>— huella encadenada SHA-256 y QR de verificación en cada ticket y factura.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F766E"/>
                </a:solidFill>
                <a:latin typeface="Calibri"/>
              </a:rPr>
              <a:t>CONECTIVIDAD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300" b="1" i="0">
                <a:solidFill>
                  <a:srgbClr val="1E293B"/>
                </a:solidFill>
                <a:latin typeface="Calibri"/>
              </a:rPr>
              <a:t>Impresión, cobro e integraciones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96112" y="2112263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130551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COCINA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Impresión ESC/POS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Impresoras por zona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Comanda automática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Ticket por el TPV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Comentarios y pases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15968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572000" y="2112263"/>
            <a:ext cx="65836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0" y="2130551"/>
            <a:ext cx="65836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PAGOS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Datáfonos y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Datáfonos escalables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Cashlogy · CashKeeper · Glory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Importe por la red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Multi-terminal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91856" y="1874519"/>
            <a:ext cx="3584448" cy="4114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47888" y="2112263"/>
            <a:ext cx="9326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47888" y="2130551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RESERVAS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47888" y="2551176"/>
            <a:ext cx="3072384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1E293B"/>
                </a:solidFill>
                <a:latin typeface="Calibri"/>
              </a:rPr>
              <a:t>TheFork · Google · CoverManager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47888" y="3044952"/>
            <a:ext cx="3108960" cy="2788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Agenda y cubiertos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API unificada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Etiquetada por origen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50" b="1" i="0">
                <a:solidFill>
                  <a:srgbClr val="14B8A6"/>
                </a:solidFill>
                <a:latin typeface="Calibri"/>
              </a:rPr>
              <a:t>•  </a:t>
            </a:r>
            <a:r>
              <a:rPr sz="1250" b="0" i="0">
                <a:solidFill>
                  <a:srgbClr val="64748B"/>
                </a:solidFill>
                <a:latin typeface="Calibri"/>
              </a:rPr>
              <a:t>Tiempo real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881360" y="365760"/>
            <a:ext cx="1828800" cy="18288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CAPTACIÓN DE RESERVAS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3200" b="1" i="0">
                <a:solidFill>
                  <a:srgbClr val="FFFFFF"/>
                </a:solidFill>
                <a:latin typeface="Calibri"/>
              </a:rPr>
              <a:t>Una agenda, todos los canales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14400" y="2157984"/>
            <a:ext cx="749808" cy="310896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176272"/>
            <a:ext cx="74980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MÓDULO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Reservas en HOSTELERO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Agenda por día, cubiertos, mesa, estados y notas.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61688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36008" y="2157984"/>
            <a:ext cx="932688" cy="310896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6008" y="2176272"/>
            <a:ext cx="9326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CARTA QR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Carta digital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El cliente ve la carta y reserva desde el móvil. Entra al instante.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83296" y="1920240"/>
            <a:ext cx="3584448" cy="269748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357616" y="2157984"/>
            <a:ext cx="475488" cy="310896"/>
          </a:xfrm>
          <a:prstGeom prst="roundRect">
            <a:avLst/>
          </a:prstGeom>
          <a:solidFill>
            <a:srgbClr val="6D28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57616" y="2176272"/>
            <a:ext cx="4754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FFFFFF"/>
                </a:solidFill>
                <a:latin typeface="Calibri"/>
              </a:rPr>
              <a:t>VOZ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57616" y="2615184"/>
            <a:ext cx="308152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Calibri"/>
              </a:rPr>
              <a:t>Agente de voz · CreativeLab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57616" y="3127248"/>
            <a:ext cx="3081528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CBD5E1"/>
                </a:solidFill>
                <a:latin typeface="Calibri"/>
              </a:rPr>
              <a:t>Atiende llamadas y vuelca la reserva a la agenda.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892040"/>
            <a:ext cx="10908792" cy="914400"/>
          </a:xfrm>
          <a:prstGeom prst="roundRect">
            <a:avLst/>
          </a:prstGeom>
          <a:solidFill>
            <a:srgbClr val="ECFD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5047488"/>
            <a:ext cx="10332720" cy="6400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1E293B"/>
                </a:solidFill>
                <a:latin typeface="Calibri"/>
              </a:rPr>
              <a:t>Carta digital, voz, TheFork, Google, CoverManager, teléfono — </a:t>
            </a:r>
            <a:r>
              <a:rPr sz="1400" b="0" i="0">
                <a:solidFill>
                  <a:srgbClr val="0F766E"/>
                </a:solidFill>
                <a:latin typeface="Calibri"/>
              </a:rPr>
              <a:t>todo en la misma agenda y en tiempo real.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0607040" y="4480560"/>
            <a:ext cx="2377440" cy="237744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54864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5EEAD4"/>
                </a:solidFill>
                <a:latin typeface="Calibri"/>
              </a:rPr>
              <a:t>ABIERTO POR DISEÑO · SIN LÍMITES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91440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900" b="1" i="0">
                <a:solidFill>
                  <a:srgbClr val="FFFFFF"/>
                </a:solidFill>
                <a:latin typeface="Calibri"/>
              </a:rPr>
              <a:t>HOSTELERO nunca dice que no a una integración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1440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07007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datáfono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Lista escalable; el importe se rutea por la red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09360" y="201168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583680" y="228600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76288" y="221284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efectivo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274320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Cashlogy, CashKeeper, Glory… integrables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1440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07007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Cualquier reserva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TheFork, Google, CoverManager, carta, voz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309360" y="3886200"/>
            <a:ext cx="5212080" cy="1691640"/>
          </a:xfrm>
          <a:prstGeom prst="round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583680" y="4160520"/>
            <a:ext cx="146304" cy="146304"/>
          </a:xfrm>
          <a:prstGeom prst="ellipse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76288" y="4087368"/>
            <a:ext cx="4480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Calibri"/>
              </a:rPr>
              <a:t>API abierta y unificada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617720"/>
            <a:ext cx="4709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BD5E1"/>
                </a:solidFill>
                <a:latin typeface="Calibri"/>
              </a:rPr>
              <a:t>Si un proveedor existe, HOSTELERO habla con él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731520" y="-731520"/>
            <a:ext cx="2743200" cy="274320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1155680" y="4937760"/>
            <a:ext cx="2926080" cy="2926080"/>
          </a:xfrm>
          <a:prstGeom prst="ellipse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822960" y="1143000"/>
            <a:ext cx="914400" cy="914400"/>
          </a:xfrm>
          <a:prstGeom prst="round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90850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383744" y="1421606"/>
            <a:ext cx="85725" cy="357187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0850" y="1557337"/>
            <a:ext cx="378618" cy="85725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37322" y="1339453"/>
            <a:ext cx="142875" cy="142875"/>
          </a:xfrm>
          <a:prstGeom prst="ellipse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920240" y="1325880"/>
            <a:ext cx="1389888" cy="310896"/>
          </a:xfrm>
          <a:prstGeom prst="round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20240" y="1344168"/>
            <a:ext cx="1389888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0F172A"/>
                </a:solidFill>
                <a:latin typeface="Calibri"/>
              </a:rPr>
              <a:t>IA POS · 360°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331720"/>
            <a:ext cx="109728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5000" b="1" i="0">
                <a:solidFill>
                  <a:srgbClr val="FFFFFF"/>
                </a:solidFill>
                <a:latin typeface="Calibri"/>
              </a:rPr>
              <a:t>Tú apruebas. Él ejecuta.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61188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100" b="0" i="0">
                <a:solidFill>
                  <a:srgbClr val="5EEAD4"/>
                </a:solidFill>
                <a:latin typeface="Calibri"/>
              </a:rPr>
              <a:t>Tu local crece porque el sistema </a:t>
            </a:r>
            <a:r>
              <a:rPr sz="2100" b="1" i="0">
                <a:solidFill>
                  <a:srgbClr val="FFFFFF"/>
                </a:solidFill>
                <a:latin typeface="Calibri"/>
              </a:rPr>
              <a:t>piensa por él.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692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500" b="0" i="1">
                <a:solidFill>
                  <a:srgbClr val="94A3B8"/>
                </a:solidFill>
                <a:latin typeface="Calibri"/>
              </a:rPr>
              <a:t>HOSTELERO · IA POS — www.hosteleroiapos.com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0F766E"/>
                </a:solidFill>
                <a:latin typeface="Calibri"/>
              </a:rPr>
              <a:t>DE CARA AL CLIENTE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300" b="1" i="0">
                <a:solidFill>
                  <a:srgbClr val="1E293B"/>
                </a:solidFill>
                <a:latin typeface="Calibri"/>
              </a:rPr>
              <a:t>La carta digital que enamora — y reserva sola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2834640" cy="4297680"/>
          </a:xfrm>
          <a:prstGeom prst="roundRect">
            <a:avLst/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32688" y="1892807"/>
            <a:ext cx="2615184" cy="4078224"/>
          </a:xfrm>
          <a:prstGeom prst="roundRect">
            <a:avLst/>
          </a:prstGeom>
          <a:solidFill>
            <a:srgbClr val="FB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32688" y="1892807"/>
            <a:ext cx="2615184" cy="1051560"/>
          </a:xfrm>
          <a:prstGeom prst="roundRect">
            <a:avLst/>
          </a:prstGeom>
          <a:solidFill>
            <a:srgbClr val="B453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15568" y="2240280"/>
            <a:ext cx="2286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La Taberna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" y="2569464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0C89A"/>
                </a:solidFill>
                <a:latin typeface="Calibri"/>
              </a:rPr>
              <a:t>CARTA DIGITAL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8992" y="3154680"/>
            <a:ext cx="566928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755648" y="3209544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Entrecot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55648" y="3465576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con foto y descripción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64408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4532A"/>
                </a:solidFill>
                <a:latin typeface="Calibri"/>
              </a:rPr>
              <a:t>18,00 €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78992" y="3867912"/>
            <a:ext cx="566928" cy="566928"/>
          </a:xfrm>
          <a:prstGeom prst="roundRect">
            <a:avLst/>
          </a:prstGeom>
          <a:solidFill>
            <a:srgbClr val="16A3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55648" y="3922776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Paella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55648" y="4178808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con foto y descripción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88920" y="397764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4532A"/>
                </a:solidFill>
                <a:latin typeface="Calibri"/>
              </a:rPr>
              <a:t>16,00 €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78992" y="4581144"/>
            <a:ext cx="566928" cy="566928"/>
          </a:xfrm>
          <a:prstGeom prst="round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755648" y="4636008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Pulpo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55648" y="4892040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con foto y descripción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88920" y="4690872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4532A"/>
                </a:solidFill>
                <a:latin typeface="Calibri"/>
              </a:rPr>
              <a:t>17,00 €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78992" y="5294376"/>
            <a:ext cx="566928" cy="566928"/>
          </a:xfrm>
          <a:prstGeom prst="round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755648" y="5349240"/>
            <a:ext cx="1371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293B"/>
                </a:solidFill>
                <a:latin typeface="Calibri"/>
              </a:rPr>
              <a:t>Tarta de queso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55648" y="5605272"/>
            <a:ext cx="146304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50" b="0" i="0">
                <a:solidFill>
                  <a:srgbClr val="64748B"/>
                </a:solidFill>
                <a:latin typeface="Calibri"/>
              </a:rPr>
              <a:t>con foto y descripción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88920" y="5404104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1" i="0">
                <a:solidFill>
                  <a:srgbClr val="B4532A"/>
                </a:solidFill>
                <a:latin typeface="Calibri"/>
              </a:rPr>
              <a:t>5,00 €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297680" y="2020824"/>
            <a:ext cx="146304" cy="146304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08576" y="1965960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E293B"/>
                </a:solidFill>
                <a:latin typeface="Calibri"/>
              </a:rPr>
              <a:t>Foto, descripción y precio en cada plato y bebida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2587752"/>
            <a:ext cx="146304" cy="146304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8576" y="2532888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E293B"/>
                </a:solidFill>
                <a:latin typeface="Calibri"/>
              </a:rPr>
              <a:t>Se actualiza sola y en tiempo real — sin reimprimir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97680" y="3154680"/>
            <a:ext cx="146304" cy="146304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608576" y="3099816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E293B"/>
                </a:solidFill>
                <a:latin typeface="Calibri"/>
              </a:rPr>
              <a:t>Funciona sin internet, en la red del local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3721607"/>
            <a:ext cx="146304" cy="146304"/>
          </a:xfrm>
          <a:prstGeom prst="round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608576" y="3666744"/>
            <a:ext cx="5120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0" i="0">
                <a:solidFill>
                  <a:srgbClr val="1E293B"/>
                </a:solidFill>
                <a:latin typeface="Calibri"/>
              </a:rPr>
              <a:t>El cliente reserva desde su móvil → entra en tu agenda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80" y="4480560"/>
            <a:ext cx="137160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443984" y="4626864"/>
            <a:ext cx="310896" cy="3108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26280" y="470916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212080" y="4626864"/>
            <a:ext cx="310896" cy="3108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294376" y="4709160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443984" y="5394960"/>
            <a:ext cx="310896" cy="3108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26280" y="5477256"/>
            <a:ext cx="146304" cy="1463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084064" y="5029200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321808" y="5029200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965192" y="5148072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965192" y="5266944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321808" y="5266944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40680" y="5266944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46320" y="5385816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84064" y="5385816"/>
            <a:ext cx="82296" cy="82296"/>
          </a:xfrm>
          <a:prstGeom prst="rect">
            <a:avLst/>
          </a:prstGeom>
          <a:solidFill>
            <a:srgbClr val="1E29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4663440"/>
            <a:ext cx="4572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293B"/>
                </a:solidFill>
                <a:latin typeface="Calibri"/>
              </a:rPr>
              <a:t>Imprime el QR para cada mesa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943600" y="5047488"/>
            <a:ext cx="4572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64748B"/>
                </a:solidFill>
                <a:latin typeface="Calibri"/>
              </a:rPr>
              <a:t>Lo escanean y ven la carta al instante. Incluido un expositor de mesa listo para imprimir.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" y="6455664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475569"/>
                </a:solidFill>
                <a:latin typeface="Calibri"/>
              </a:rPr>
              <a:t>© 2026 HOSTELERO · IA POS — Todos los derechos reservados · Documento confidencial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