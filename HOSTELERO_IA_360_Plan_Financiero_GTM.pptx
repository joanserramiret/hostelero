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HOSTELERO IA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4B8A6"/>
                </a:solidFill>
                <a:latin typeface="Calibri"/>
              </a:rPr>
              <a:t>Plan financiero · Mercado · Go-to-market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673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BD5E1"/>
                </a:solidFill>
                <a:latin typeface="Calibri"/>
              </a:rPr>
              <a:t>Anexo al análisis estratégico (DAFO) — Joan &amp; Luis · 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Calibri"/>
              </a:rPr>
              <a:t>Cifras ilustrativas, a validar con los primeros pilotos.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EL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Grande, creciendo al 17% y desatendido justo en el centro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436"/>
                </a:solidFill>
                <a:latin typeface="Calibr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€200M → €430M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Software de gestión de restauración en España. CAGR ~17% (2025-2030).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Calibri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871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~€20M / 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4290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Grupos de 2-10 locales (“hostelería organizada”, ~21.000 locales, +6,2%/año).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8288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SOM · 3 AÑOS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871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~€0,4M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290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~2% del SAM ≈ 110 grupos. Objetivo alcanzable founder-led.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1E293B"/>
                </a:solidFill>
                <a:latin typeface="Calibri"/>
              </a:rPr>
              <a:t>El sweet spot (2-10 locales) es demasiado grande para el TPV de barrio y demasiado pequeño para el enterprise: ahí no hay un 360 real con 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Calibri"/>
              </a:rPr>
              <a:t>Fuentes: Grand View Research (software restauración España); UVE Data Market / Hostelería de España (censo HORECA 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MODELO DE INGRESOS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Suscripción por local, suite 360 integrada (no por módulos)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Calibri"/>
              </a:rPr>
              <a:t>ARPU mezclado ≈ 80 €/local·mes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75688"/>
            <a:ext cx="502920" cy="502920"/>
          </a:xfrm>
          <a:prstGeom prst="ellipse">
            <a:avLst/>
          </a:prstGeom>
          <a:solidFill>
            <a:srgbClr val="0F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7568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Calibri"/>
              </a:rPr>
              <a:t>Esencial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436"/>
                </a:solidFill>
                <a:latin typeface="Calibri"/>
              </a:rPr>
              <a:t>59 €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 /local·mes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Bar / cafetería. TPV + IA + cuadro de mando básico.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075688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07568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Calibri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432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766E"/>
                </a:solidFill>
                <a:latin typeface="Calibri"/>
              </a:rPr>
              <a:t>99 €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 /local·mes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01568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Restaurante. 360 completo: compras, RRHH, contabilidad, reservas.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82880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207568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57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07568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Calibri"/>
              </a:rPr>
              <a:t>Grupo (2-10)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7432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9E0B"/>
                </a:solidFill>
                <a:latin typeface="Calibri"/>
              </a:rPr>
              <a:t>79 €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 /local·mes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401568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Precio por local con descuento por volumen. Multi-local.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1772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424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Dos palancas del modelo:  </a:t>
            </a:r>
            <a:r>
              <a:rPr sz="1400" b="1" i="0">
                <a:solidFill>
                  <a:srgbClr val="0F766E"/>
                </a:solidFill>
                <a:latin typeface="Calibri"/>
              </a:rPr>
              <a:t>Pagos multipasarela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sin markup obligatorio (F8, frente al cierre Ágora-Adyen).   </a:t>
            </a:r>
            <a:r>
              <a:rPr sz="1400" b="1" i="0">
                <a:solidFill>
                  <a:srgbClr val="0F766E"/>
                </a:solidFill>
                <a:latin typeface="Calibri"/>
              </a:rPr>
              <a:t>Mismo CAC, varios módulos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→ ingresos por cuenta que crecen con el tiempo (F6, LTV alto).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La cuenta sale: grupo medio de 4 locales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436"/>
                </a:solidFill>
                <a:latin typeface="Calibri"/>
              </a:rPr>
              <a:t>3.840 €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ARPU / año por cuenta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766E"/>
                </a:solidFill>
                <a:latin typeface="Calibri"/>
              </a:rPr>
              <a:t>~78 %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Margen bruto (neto de IA)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8288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9E0B"/>
                </a:solidFill>
                <a:latin typeface="Calibri"/>
              </a:rPr>
              <a:t>~2 % / 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Churn (grupos, alto switching)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436"/>
                </a:solidFill>
                <a:latin typeface="Calibri"/>
              </a:rPr>
              <a:t>~900 €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CAC (founder-led + referidos)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4290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6118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766E"/>
                </a:solidFill>
                <a:latin typeface="Calibri"/>
              </a:rPr>
              <a:t>~9.000 €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062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LTV por cuenta (conservador)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4290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6118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9E0B"/>
                </a:solidFill>
                <a:latin typeface="Calibri"/>
              </a:rPr>
              <a:t>5-10 :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062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LTV : CAC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1">
                <a:solidFill>
                  <a:srgbClr val="0F766E"/>
                </a:solidFill>
                <a:latin typeface="Calibri"/>
              </a:rPr>
              <a:t>Payback &lt; 8 meses</a:t>
            </a:r>
            <a:r>
              <a:rPr sz="1400" b="0" i="1">
                <a:solidFill>
                  <a:srgbClr val="1E293B"/>
                </a:solidFill>
                <a:latin typeface="Calibri"/>
              </a:rPr>
              <a:t>.  Por encima del listón SaaS para PYME (LTV:CAC ≥ 3-5:1, payback &lt; 12 meses). El 360 integrado sube el switching cost y baja el churn frente al TPV suelto.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Calibri"/>
              </a:rPr>
              <a:t>Supuestos a validar en pilotos. Benchmarks: B2B/vertical SaaS PYME 2025 (LTV:CAC, payback, churn).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PROYECCIÓN Y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Crecimiento founder-led y una ronda pequeña para arrancar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93443"/>
            <a:ext cx="1280160" cy="184396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81963"/>
            <a:ext cx="1645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23 k€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59"/>
            <a:ext cx="164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2026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4503528"/>
            <a:ext cx="1280160" cy="1074311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4092048"/>
            <a:ext cx="1645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134 k€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5623559"/>
            <a:ext cx="164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94559"/>
            <a:ext cx="1280160" cy="338328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79"/>
            <a:ext cx="1645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422 k€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623559"/>
            <a:ext cx="164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Calibri"/>
              </a:rPr>
              <a:t>ARR proyectado (k€)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828800"/>
            <a:ext cx="4892040" cy="4023360"/>
          </a:xfrm>
          <a:prstGeom prst="roundRect">
            <a:avLst>
              <a:gd name="adj" fmla="val 6000"/>
            </a:avLst>
          </a:prstGeom>
          <a:solidFill>
            <a:srgbClr val="0F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20574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LA PETICIÓN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468880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200.000 €</a:t>
            </a:r>
            <a:r>
              <a:rPr sz="1800" b="0" i="0">
                <a:solidFill>
                  <a:srgbClr val="CBD5E1"/>
                </a:solidFill>
                <a:latin typeface="Calibri"/>
              </a:rPr>
              <a:t>  pre-seed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4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18 meses de runway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639312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B8A6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639312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Salario de Joan a tiempo completo (cierra D7)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050791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B8A6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050791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1 comercial (ataca D1/D4 go-to-market)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462272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B8A6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462272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Infraestructura e IA a escala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873752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B8A6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873752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Legal: no-compete + pacto de socios (A7/A8)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5285232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B8A6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285232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Kit Digital como palanca de venta (O6)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Calibri"/>
              </a:rPr>
              <a:t>Hito con estos fondos: ~150k€ ARR y ~35 grupos → métricas para una ronda seed o break-even. Cifras ilustrativas.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Tres fases: primero referencias, luego canal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75688"/>
            <a:ext cx="640080" cy="640080"/>
          </a:xfrm>
          <a:prstGeom prst="ellipse">
            <a:avLst/>
          </a:prstGeom>
          <a:solidFill>
            <a:srgbClr val="0F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075688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Pilotos / design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436"/>
                </a:solidFill>
                <a:latin typeface="Calibri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7180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Red de Luis como primer canal (O9)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436"/>
                </a:solidFill>
                <a:latin typeface="Calibri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8503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5-8 grupos a precio 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98264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436"/>
                </a:solidFill>
                <a:latin typeface="Calibri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398264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Construir casos de éxito reales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11496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436"/>
                </a:solidFill>
                <a:latin typeface="Calibr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111496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Ataca D3/D4: sin base ni referencias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828800"/>
            <a:ext cx="342900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20" y="2075688"/>
            <a:ext cx="640080" cy="6400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075688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Venta founder-led por referencia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97180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Calibri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97180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Regiones foco (Balears / Levante)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685032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Calibri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8503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Gancho Verifactu (O5) + Kit Digital (O6)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98264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Calibri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398264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Land &amp; expand: 1 módulo → 360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111496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Calibri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111496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Pricing y mensaje validados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1828800"/>
            <a:ext cx="342900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2075688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075688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Canal y escala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97180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297180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Distribución: banco / consolidación (O4/O7)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685032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59" y="368503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1er comercial + soporte (cierra D1)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98264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59" y="4398264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Inbound y contenido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111496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59" y="5111496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LatAm, mismo idioma (O8)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E293B"/>
                </a:solidFill>
                <a:latin typeface="Calibri"/>
              </a:rPr>
              <a:t>Primero la casa (socios + legal), luego el mercado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Mes 0-1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783080"/>
            <a:ext cx="91897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783080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Blindar la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783080"/>
            <a:ext cx="5989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No-compete de Joan + pacto de socios y equity. Antes que lo técnico y lo comercial.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15768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0F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15768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715768"/>
            <a:ext cx="91897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715768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Producto y cumplimiento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715768"/>
            <a:ext cx="5989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v1 360 estable (TPV/KDS/IA, ya avanzado) + Verifactu. 3-5 pilotos vivos. Pricing cerrado.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48456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48456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648456"/>
            <a:ext cx="91897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3648456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Tracción y ronda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648456"/>
            <a:ext cx="5989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6-10 grupos de pago, 2-3 casos de éxito, cierre del pre-seed de 200k€.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81144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81144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4581144"/>
            <a:ext cx="91897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4581144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Escalar el equipo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581144"/>
            <a:ext cx="5989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~35 grupos. Contratar comercial + soporte. Expansión por módulos (NRR&gt;100%).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13832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13832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5513832"/>
            <a:ext cx="91897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5513832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Canal y nuevas verticales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513832"/>
            <a:ext cx="5989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~110 grupos. Hoteleras con F&amp;B y exploración LatAm.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DEVIL'S ADVOCATE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FFFFFF"/>
                </a:solidFill>
                <a:latin typeface="Calibri"/>
              </a:rPr>
              <a:t>Las preguntas que hará un inversor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¿Qué os protege antes de que copien el 360 (A1)?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5000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BD5E1"/>
                </a:solidFill>
                <a:latin typeface="Calibri"/>
              </a:rPr>
              <a:t>Dato cruzado entre módulos + IA profunda + switching cost del integrado + velocidad con pilotos.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83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F8 vs O4: ¿pasarela abierta o distribución del banco?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5000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BD5E1"/>
                </a:solidFill>
                <a:latin typeface="Calibri"/>
              </a:rPr>
              <a:t>Decisión estratégica pendiente; no se puede tener todo. Elegir conscientemente.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644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440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Bus factor: todo depende de Joan (D5/D8).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31336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BD5E1"/>
                </a:solidFill>
                <a:latin typeface="Calibri"/>
              </a:rPr>
              <a:t>2º perfil técnico + documentación + equity de retención. Riesgo nº1 operativo.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644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6440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Churn estructural del sector (A3).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31336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BD5E1"/>
                </a:solidFill>
                <a:latin typeface="Calibri"/>
              </a:rPr>
              <a:t>Por eso grupos (no locales sueltos): más estables y expansión por módulos.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457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45736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¿Y el dinero, con Joan all-in sin caja (D7)?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312664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BD5E1"/>
                </a:solidFill>
                <a:latin typeface="Calibri"/>
              </a:rPr>
              <a:t>Pre-seed 200k€ / 18 meses con hitos claros de ARR.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7457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745736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Coste de IA a escala y lock-in (A4).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312664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BD5E1"/>
                </a:solidFill>
                <a:latin typeface="Calibri"/>
              </a:rPr>
              <a:t>Caché y niveles de modelo; control de consumo por local (ya se cachea en el producto).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